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 Analytics Overview</a:t>
            </a:r>
          </a:p>
        </p:txBody>
      </p:sp>
      <p:sp>
        <p:nvSpPr>
          <p:cNvPr id="3" name="TextBox 2"/>
          <p:cNvSpPr txBox="1"/>
          <p:nvPr/>
        </p:nvSpPr>
        <p:spPr>
          <a:xfrm>
            <a:off x="457200" y="1280160"/>
            <a:ext cx="11277295" cy="822959"/>
          </a:xfrm>
          <a:prstGeom prst="rect">
            <a:avLst/>
          </a:prstGeom>
          <a:noFill/>
        </p:spPr>
        <p:txBody>
          <a:bodyPr wrap="square">
            <a:spAutoFit/>
          </a:bodyPr>
          <a:lstStyle/>
          <a:p>
            <a:pPr lvl="1">
              <a:defRPr sz="1400" b="0"/>
            </a:pPr>
            <a:r>
              <a:t>This report covers user growth and engagement for the product over the last five months. Monthly active users have grown steadily, with the largest jump occurring between March and April following the release of the mobile app redesign.</a:t>
            </a:r>
          </a:p>
          <a:p>
            <a:pPr>
              <a:defRPr sz="1800" b="1"/>
            </a:pPr>
            <a:r>
              <a:t>Monthly Active Users</a:t>
            </a:r>
          </a:p>
          <a:p>
            <a:pPr lvl="1">
              <a:defRPr sz="1400" b="0"/>
            </a:pPr>
            <a:r>
              <a:t>Figure 1: Active users by month, in thousands</a:t>
            </a:r>
          </a:p>
        </p:txBody>
      </p:sp>
      <p:pic>
        <p:nvPicPr>
          <p:cNvPr id="4" name="Picture 3" descr="p001_img00.png"/>
          <p:cNvPicPr>
            <a:picLocks noChangeAspect="1"/>
          </p:cNvPicPr>
          <p:nvPr/>
        </p:nvPicPr>
        <p:blipFill>
          <a:blip r:embed="rId2"/>
          <a:stretch>
            <a:fillRect/>
          </a:stretch>
        </p:blipFill>
        <p:spPr>
          <a:xfrm>
            <a:off x="457200" y="2240279"/>
            <a:ext cx="4114800" cy="2651759"/>
          </a:xfrm>
          <a:prstGeom prst="rect">
            <a:avLst/>
          </a:prstGeom>
        </p:spPr>
      </p:pic>
      <p:sp>
        <p:nvSpPr>
          <p:cNvPr id="5" name="TextBox 4"/>
          <p:cNvSpPr txBox="1"/>
          <p:nvPr/>
        </p:nvSpPr>
        <p:spPr>
          <a:xfrm>
            <a:off x="457200" y="5074919"/>
            <a:ext cx="11277295" cy="365760"/>
          </a:xfrm>
          <a:prstGeom prst="rect">
            <a:avLst/>
          </a:prstGeom>
          <a:noFill/>
        </p:spPr>
        <p:txBody>
          <a:bodyPr wrap="square">
            <a:spAutoFit/>
          </a:bodyPr>
          <a:lstStyle/>
          <a:p>
            <a:pPr lvl="1">
              <a:defRPr sz="1400" b="0"/>
            </a:pPr>
            <a:r>
              <a:t>Retention also improved during this period, with week-4 retention rising from 38% in January to 47% in May.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Regional Breakdown</a:t>
            </a:r>
          </a:p>
        </p:txBody>
      </p:sp>
      <p:sp>
        <p:nvSpPr>
          <p:cNvPr id="3" name="TextBox 2"/>
          <p:cNvSpPr txBox="1"/>
          <p:nvPr/>
        </p:nvSpPr>
        <p:spPr>
          <a:xfrm>
            <a:off x="457200" y="1280160"/>
            <a:ext cx="11277295" cy="365760"/>
          </a:xfrm>
          <a:prstGeom prst="rect">
            <a:avLst/>
          </a:prstGeom>
          <a:noFill/>
        </p:spPr>
        <p:txBody>
          <a:bodyPr wrap="square">
            <a:spAutoFit/>
          </a:bodyPr>
          <a:lstStyle/>
          <a:p>
            <a:pPr lvl="1">
              <a:defRPr sz="1400" b="0"/>
            </a:pPr>
            <a:r>
              <a:t>The table below breaks down active users by region for the most recent month. North America and Europe together account for the majority of the user base.</a:t>
            </a:r>
          </a:p>
        </p:txBody>
      </p:sp>
      <p:graphicFrame>
        <p:nvGraphicFramePr>
          <p:cNvPr id="4" name="Table 3"/>
          <p:cNvGraphicFramePr>
            <a:graphicFrameLocks noGrp="1"/>
          </p:cNvGraphicFramePr>
          <p:nvPr/>
        </p:nvGraphicFramePr>
        <p:xfrm>
          <a:off x="457200" y="1783079"/>
          <a:ext cx="11277295" cy="1600200"/>
        </p:xfrm>
        <a:graphic>
          <a:graphicData uri="http://schemas.openxmlformats.org/drawingml/2006/table">
            <a:tbl>
              <a:tblPr firstRow="1" bandRow="1">
                <a:tableStyleId>{5C22544A-7EE6-4342-B048-85BDC9FD1C3A}</a:tableStyleId>
              </a:tblPr>
              <a:tblGrid>
                <a:gridCol w="2819323"/>
                <a:gridCol w="2819323"/>
                <a:gridCol w="2819323"/>
                <a:gridCol w="2819326"/>
              </a:tblGrid>
              <a:tr h="320040">
                <a:tc>
                  <a:txBody>
                    <a:bodyPr/>
                    <a:lstStyle/>
                    <a:p>
                      <a:pPr>
                        <a:defRPr sz="1100"/>
                      </a:pPr>
                      <a:r>
                        <a:t>Region</a:t>
                      </a:r>
                    </a:p>
                  </a:txBody>
                  <a:tcPr/>
                </a:tc>
                <a:tc>
                  <a:txBody>
                    <a:bodyPr/>
                    <a:lstStyle/>
                    <a:p>
                      <a:pPr>
                        <a:defRPr sz="1100"/>
                      </a:pPr>
                      <a:r>
                        <a:t>Active Users</a:t>
                      </a:r>
                    </a:p>
                  </a:txBody>
                  <a:tcPr/>
                </a:tc>
                <a:tc>
                  <a:txBody>
                    <a:bodyPr/>
                    <a:lstStyle/>
                    <a:p>
                      <a:pPr>
                        <a:defRPr sz="1100"/>
                      </a:pPr>
                      <a:r>
                        <a:t>% of Total</a:t>
                      </a:r>
                    </a:p>
                  </a:txBody>
                  <a:tcPr/>
                </a:tc>
                <a:tc>
                  <a:txBody>
                    <a:bodyPr/>
                    <a:lstStyle/>
                    <a:p>
                      <a:pPr>
                        <a:defRPr sz="1100"/>
                      </a:pPr>
                      <a:r>
                        <a:t>MoM Change</a:t>
                      </a:r>
                    </a:p>
                  </a:txBody>
                  <a:tcPr/>
                </a:tc>
              </a:tr>
              <a:tr h="320040">
                <a:tc>
                  <a:txBody>
                    <a:bodyPr/>
                    <a:lstStyle/>
                    <a:p>
                      <a:pPr>
                        <a:defRPr sz="1100"/>
                      </a:pPr>
                      <a:r>
                        <a:t>North America</a:t>
                      </a:r>
                    </a:p>
                  </a:txBody>
                  <a:tcPr/>
                </a:tc>
                <a:tc>
                  <a:txBody>
                    <a:bodyPr/>
                    <a:lstStyle/>
                    <a:p>
                      <a:pPr>
                        <a:defRPr sz="1100"/>
                      </a:pPr>
                      <a:r>
                        <a:t>84,200</a:t>
                      </a:r>
                    </a:p>
                  </a:txBody>
                  <a:tcPr/>
                </a:tc>
                <a:tc>
                  <a:txBody>
                    <a:bodyPr/>
                    <a:lstStyle/>
                    <a:p>
                      <a:pPr>
                        <a:defRPr sz="1100"/>
                      </a:pPr>
                      <a:r>
                        <a:t>40%</a:t>
                      </a:r>
                    </a:p>
                  </a:txBody>
                  <a:tcPr/>
                </a:tc>
                <a:tc>
                  <a:txBody>
                    <a:bodyPr/>
                    <a:lstStyle/>
                    <a:p>
                      <a:pPr>
                        <a:defRPr sz="1100"/>
                      </a:pPr>
                      <a:r>
                        <a:t>+6%</a:t>
                      </a:r>
                    </a:p>
                  </a:txBody>
                  <a:tcPr/>
                </a:tc>
              </a:tr>
              <a:tr h="320040">
                <a:tc>
                  <a:txBody>
                    <a:bodyPr/>
                    <a:lstStyle/>
                    <a:p>
                      <a:pPr>
                        <a:defRPr sz="1100"/>
                      </a:pPr>
                      <a:r>
                        <a:t>Europe</a:t>
                      </a:r>
                    </a:p>
                  </a:txBody>
                  <a:tcPr/>
                </a:tc>
                <a:tc>
                  <a:txBody>
                    <a:bodyPr/>
                    <a:lstStyle/>
                    <a:p>
                      <a:pPr>
                        <a:defRPr sz="1100"/>
                      </a:pPr>
                      <a:r>
                        <a:t>63,500</a:t>
                      </a:r>
                    </a:p>
                  </a:txBody>
                  <a:tcPr/>
                </a:tc>
                <a:tc>
                  <a:txBody>
                    <a:bodyPr/>
                    <a:lstStyle/>
                    <a:p>
                      <a:pPr>
                        <a:defRPr sz="1100"/>
                      </a:pPr>
                      <a:r>
                        <a:t>30%</a:t>
                      </a:r>
                    </a:p>
                  </a:txBody>
                  <a:tcPr/>
                </a:tc>
                <a:tc>
                  <a:txBody>
                    <a:bodyPr/>
                    <a:lstStyle/>
                    <a:p>
                      <a:pPr>
                        <a:defRPr sz="1100"/>
                      </a:pPr>
                      <a:r>
                        <a:t>+4%</a:t>
                      </a:r>
                    </a:p>
                  </a:txBody>
                  <a:tcPr/>
                </a:tc>
              </a:tr>
              <a:tr h="320040">
                <a:tc>
                  <a:txBody>
                    <a:bodyPr/>
                    <a:lstStyle/>
                    <a:p>
                      <a:pPr>
                        <a:defRPr sz="1100"/>
                      </a:pPr>
                      <a:r>
                        <a:t>Asia Pacific</a:t>
                      </a:r>
                    </a:p>
                  </a:txBody>
                  <a:tcPr/>
                </a:tc>
                <a:tc>
                  <a:txBody>
                    <a:bodyPr/>
                    <a:lstStyle/>
                    <a:p>
                      <a:pPr>
                        <a:defRPr sz="1100"/>
                      </a:pPr>
                      <a:r>
                        <a:t>42,000</a:t>
                      </a:r>
                    </a:p>
                  </a:txBody>
                  <a:tcPr/>
                </a:tc>
                <a:tc>
                  <a:txBody>
                    <a:bodyPr/>
                    <a:lstStyle/>
                    <a:p>
                      <a:pPr>
                        <a:defRPr sz="1100"/>
                      </a:pPr>
                      <a:r>
                        <a:t>20%</a:t>
                      </a:r>
                    </a:p>
                  </a:txBody>
                  <a:tcPr/>
                </a:tc>
                <a:tc>
                  <a:txBody>
                    <a:bodyPr/>
                    <a:lstStyle/>
                    <a:p>
                      <a:pPr>
                        <a:defRPr sz="1100"/>
                      </a:pPr>
                      <a:r>
                        <a:t>+9%</a:t>
                      </a:r>
                    </a:p>
                  </a:txBody>
                  <a:tcPr/>
                </a:tc>
              </a:tr>
              <a:tr h="320040">
                <a:tc>
                  <a:txBody>
                    <a:bodyPr/>
                    <a:lstStyle/>
                    <a:p>
                      <a:pPr>
                        <a:defRPr sz="1100"/>
                      </a:pPr>
                      <a:r>
                        <a:t>Rest of World</a:t>
                      </a:r>
                    </a:p>
                  </a:txBody>
                  <a:tcPr/>
                </a:tc>
                <a:tc>
                  <a:txBody>
                    <a:bodyPr/>
                    <a:lstStyle/>
                    <a:p>
                      <a:pPr>
                        <a:defRPr sz="1100"/>
                      </a:pPr>
                      <a:r>
                        <a:t>21,000</a:t>
                      </a:r>
                    </a:p>
                  </a:txBody>
                  <a:tcPr/>
                </a:tc>
                <a:tc>
                  <a:txBody>
                    <a:bodyPr/>
                    <a:lstStyle/>
                    <a:p>
                      <a:pPr>
                        <a:defRPr sz="1100"/>
                      </a:pPr>
                      <a:r>
                        <a:t>10%</a:t>
                      </a:r>
                    </a:p>
                  </a:txBody>
                  <a:tcPr/>
                </a:tc>
                <a:tc>
                  <a:txBody>
                    <a:bodyPr/>
                    <a:lstStyle/>
                    <a:p>
                      <a:pPr>
                        <a:defRPr sz="1100"/>
                      </a:pPr>
                      <a:r>
                        <a:t>+2%</a:t>
                      </a:r>
                    </a:p>
                  </a:txBody>
                  <a:tcPr/>
                </a:tc>
              </a:tr>
            </a:tbl>
          </a:graphicData>
        </a:graphic>
      </p:graphicFrame>
      <p:sp>
        <p:nvSpPr>
          <p:cNvPr id="5" name="TextBox 4"/>
          <p:cNvSpPr txBox="1"/>
          <p:nvPr/>
        </p:nvSpPr>
        <p:spPr>
          <a:xfrm>
            <a:off x="457200" y="3566160"/>
            <a:ext cx="11277295" cy="365760"/>
          </a:xfrm>
          <a:prstGeom prst="rect">
            <a:avLst/>
          </a:prstGeom>
          <a:noFill/>
        </p:spPr>
        <p:txBody>
          <a:bodyPr wrap="square">
            <a:spAutoFit/>
          </a:bodyPr>
          <a:lstStyle/>
          <a:p>
            <a:pPr lvl="1">
              <a:defRPr sz="1400" b="0"/>
            </a:pPr>
            <a:r>
              <a:t>Asia Pacific showed the fastest month-over-month growth at 9%, suggesting continued investment in that region is likely to pay off over the next two quarters.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