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Employee Onboarding Summary</a:t>
            </a:r>
          </a:p>
        </p:txBody>
      </p:sp>
      <p:sp>
        <p:nvSpPr>
          <p:cNvPr id="3" name="TextBox 2"/>
          <p:cNvSpPr txBox="1"/>
          <p:nvPr/>
        </p:nvSpPr>
        <p:spPr>
          <a:xfrm>
            <a:off x="457200" y="1280160"/>
            <a:ext cx="11277295" cy="548640"/>
          </a:xfrm>
          <a:prstGeom prst="rect">
            <a:avLst/>
          </a:prstGeom>
          <a:noFill/>
        </p:spPr>
        <p:txBody>
          <a:bodyPr wrap="square">
            <a:spAutoFit/>
          </a:bodyPr>
          <a:lstStyle/>
          <a:p>
            <a:pPr lvl="1">
              <a:defRPr sz="1400" b="0"/>
            </a:pPr>
            <a:r>
              <a:t>This document summarizes new employee onboarding activity for the current quarter. All departments reported steady intake, with Engineering showing the largest increase in headcount. HR completed compliance training for all new hires within the first two weeks of their start date.</a:t>
            </a:r>
          </a:p>
          <a:p>
            <a:pPr>
              <a:defRPr sz="1800" b="1"/>
            </a:pPr>
            <a:r>
              <a:t>Department Headcount</a:t>
            </a:r>
          </a:p>
        </p:txBody>
      </p:sp>
      <p:graphicFrame>
        <p:nvGraphicFramePr>
          <p:cNvPr id="4" name="Table 3"/>
          <p:cNvGraphicFramePr>
            <a:graphicFrameLocks noGrp="1"/>
          </p:cNvGraphicFramePr>
          <p:nvPr/>
        </p:nvGraphicFramePr>
        <p:xfrm>
          <a:off x="457200" y="1965960"/>
          <a:ext cx="11277295" cy="160020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pPr>
                        <a:defRPr sz="1100"/>
                      </a:pPr>
                      <a:r>
                        <a:t>Department</a:t>
                      </a:r>
                    </a:p>
                  </a:txBody>
                  <a:tcPr/>
                </a:tc>
                <a:tc>
                  <a:txBody>
                    <a:bodyPr/>
                    <a:lstStyle/>
                    <a:p>
                      <a:pPr>
                        <a:defRPr sz="1100"/>
                      </a:pPr>
                      <a:r>
                        <a:t>New Hires</a:t>
                      </a:r>
                    </a:p>
                  </a:txBody>
                  <a:tcPr/>
                </a:tc>
                <a:tc>
                  <a:txBody>
                    <a:bodyPr/>
                    <a:lstStyle/>
                    <a:p>
                      <a:pPr>
                        <a:defRPr sz="1100"/>
                      </a:pPr>
                      <a:r>
                        <a:t>Completed Training</a:t>
                      </a:r>
                    </a:p>
                  </a:txBody>
                  <a:tcPr/>
                </a:tc>
                <a:tc>
                  <a:txBody>
                    <a:bodyPr/>
                    <a:lstStyle/>
                    <a:p>
                      <a:pPr>
                        <a:defRPr sz="1100"/>
                      </a:pPr>
                      <a:r>
                        <a:t>Pending</a:t>
                      </a:r>
                    </a:p>
                  </a:txBody>
                  <a:tcPr/>
                </a:tc>
              </a:tr>
              <a:tr h="320040">
                <a:tc>
                  <a:txBody>
                    <a:bodyPr/>
                    <a:lstStyle/>
                    <a:p>
                      <a:pPr>
                        <a:defRPr sz="1100"/>
                      </a:pPr>
                      <a:r>
                        <a:t>Engineering</a:t>
                      </a:r>
                    </a:p>
                  </a:txBody>
                  <a:tcPr/>
                </a:tc>
                <a:tc>
                  <a:txBody>
                    <a:bodyPr/>
                    <a:lstStyle/>
                    <a:p>
                      <a:pPr>
                        <a:defRPr sz="1100"/>
                      </a:pPr>
                      <a:r>
                        <a:t>18</a:t>
                      </a:r>
                    </a:p>
                  </a:txBody>
                  <a:tcPr/>
                </a:tc>
                <a:tc>
                  <a:txBody>
                    <a:bodyPr/>
                    <a:lstStyle/>
                    <a:p>
                      <a:pPr>
                        <a:defRPr sz="1100"/>
                      </a:pPr>
                      <a:r>
                        <a:t>16</a:t>
                      </a:r>
                    </a:p>
                  </a:txBody>
                  <a:tcPr/>
                </a:tc>
                <a:tc>
                  <a:txBody>
                    <a:bodyPr/>
                    <a:lstStyle/>
                    <a:p>
                      <a:pPr>
                        <a:defRPr sz="1100"/>
                      </a:pPr>
                      <a:r>
                        <a:t>2</a:t>
                      </a:r>
                    </a:p>
                  </a:txBody>
                  <a:tcPr/>
                </a:tc>
              </a:tr>
              <a:tr h="320040">
                <a:tc>
                  <a:txBody>
                    <a:bodyPr/>
                    <a:lstStyle/>
                    <a:p>
                      <a:pPr>
                        <a:defRPr sz="1100"/>
                      </a:pPr>
                      <a:r>
                        <a:t>Sales</a:t>
                      </a:r>
                    </a:p>
                  </a:txBody>
                  <a:tcPr/>
                </a:tc>
                <a:tc>
                  <a:txBody>
                    <a:bodyPr/>
                    <a:lstStyle/>
                    <a:p>
                      <a:pPr>
                        <a:defRPr sz="1100"/>
                      </a:pPr>
                      <a:r>
                        <a:t>9</a:t>
                      </a:r>
                    </a:p>
                  </a:txBody>
                  <a:tcPr/>
                </a:tc>
                <a:tc>
                  <a:txBody>
                    <a:bodyPr/>
                    <a:lstStyle/>
                    <a:p>
                      <a:pPr>
                        <a:defRPr sz="1100"/>
                      </a:pPr>
                      <a:r>
                        <a:t>9</a:t>
                      </a:r>
                    </a:p>
                  </a:txBody>
                  <a:tcPr/>
                </a:tc>
                <a:tc>
                  <a:txBody>
                    <a:bodyPr/>
                    <a:lstStyle/>
                    <a:p>
                      <a:pPr>
                        <a:defRPr sz="1100"/>
                      </a:pPr>
                      <a:r>
                        <a:t>0</a:t>
                      </a:r>
                    </a:p>
                  </a:txBody>
                  <a:tcPr/>
                </a:tc>
              </a:tr>
              <a:tr h="320040">
                <a:tc>
                  <a:txBody>
                    <a:bodyPr/>
                    <a:lstStyle/>
                    <a:p>
                      <a:pPr>
                        <a:defRPr sz="1100"/>
                      </a:pPr>
                      <a:r>
                        <a:t>Customer Support</a:t>
                      </a:r>
                    </a:p>
                  </a:txBody>
                  <a:tcPr/>
                </a:tc>
                <a:tc>
                  <a:txBody>
                    <a:bodyPr/>
                    <a:lstStyle/>
                    <a:p>
                      <a:pPr>
                        <a:defRPr sz="1100"/>
                      </a:pPr>
                      <a:r>
                        <a:t>12</a:t>
                      </a:r>
                    </a:p>
                  </a:txBody>
                  <a:tcPr/>
                </a:tc>
                <a:tc>
                  <a:txBody>
                    <a:bodyPr/>
                    <a:lstStyle/>
                    <a:p>
                      <a:pPr>
                        <a:defRPr sz="1100"/>
                      </a:pPr>
                      <a:r>
                        <a:t>10</a:t>
                      </a:r>
                    </a:p>
                  </a:txBody>
                  <a:tcPr/>
                </a:tc>
                <a:tc>
                  <a:txBody>
                    <a:bodyPr/>
                    <a:lstStyle/>
                    <a:p>
                      <a:pPr>
                        <a:defRPr sz="1100"/>
                      </a:pPr>
                      <a:r>
                        <a:t>2</a:t>
                      </a:r>
                    </a:p>
                  </a:txBody>
                  <a:tcPr/>
                </a:tc>
              </a:tr>
              <a:tr h="320040">
                <a:tc>
                  <a:txBody>
                    <a:bodyPr/>
                    <a:lstStyle/>
                    <a:p>
                      <a:pPr>
                        <a:defRPr sz="1100"/>
                      </a:pPr>
                      <a:r>
                        <a:t>HR</a:t>
                      </a:r>
                    </a:p>
                  </a:txBody>
                  <a:tcPr/>
                </a:tc>
                <a:tc>
                  <a:txBody>
                    <a:bodyPr/>
                    <a:lstStyle/>
                    <a:p>
                      <a:pPr>
                        <a:defRPr sz="1100"/>
                      </a:pPr>
                      <a:r>
                        <a:t>3</a:t>
                      </a:r>
                    </a:p>
                  </a:txBody>
                  <a:tcPr/>
                </a:tc>
                <a:tc>
                  <a:txBody>
                    <a:bodyPr/>
                    <a:lstStyle/>
                    <a:p>
                      <a:pPr>
                        <a:defRPr sz="1100"/>
                      </a:pPr>
                      <a:r>
                        <a:t>3</a:t>
                      </a:r>
                    </a:p>
                  </a:txBody>
                  <a:tcPr/>
                </a:tc>
                <a:tc>
                  <a:txBody>
                    <a:bodyPr/>
                    <a:lstStyle/>
                    <a:p>
                      <a:pPr>
                        <a:defRPr sz="1100"/>
                      </a:pPr>
                      <a:r>
                        <a:t>0</a:t>
                      </a:r>
                    </a:p>
                  </a:txBody>
                  <a:tcPr/>
                </a:tc>
              </a:tr>
            </a:tbl>
          </a:graphicData>
        </a:graphic>
      </p:graphicFrame>
      <p:sp>
        <p:nvSpPr>
          <p:cNvPr id="5" name="TextBox 4"/>
          <p:cNvSpPr txBox="1"/>
          <p:nvPr/>
        </p:nvSpPr>
        <p:spPr>
          <a:xfrm>
            <a:off x="457200" y="3749039"/>
            <a:ext cx="11277295" cy="365760"/>
          </a:xfrm>
          <a:prstGeom prst="rect">
            <a:avLst/>
          </a:prstGeom>
          <a:noFill/>
        </p:spPr>
        <p:txBody>
          <a:bodyPr wrap="square">
            <a:spAutoFit/>
          </a:bodyPr>
          <a:lstStyle/>
          <a:p>
            <a:pPr lvl="1">
              <a:defRPr sz="1400" b="0"/>
            </a:pPr>
            <a:r>
              <a:t>Two Customer Support hires and two Engineering hires have pending training sessions scheduled for early next month. No onboarding delays have been reported to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Facility Compliance Notes</a:t>
            </a:r>
          </a:p>
        </p:txBody>
      </p:sp>
      <p:sp>
        <p:nvSpPr>
          <p:cNvPr id="3" name="TextBox 2"/>
          <p:cNvSpPr txBox="1"/>
          <p:nvPr/>
        </p:nvSpPr>
        <p:spPr>
          <a:xfrm>
            <a:off x="457200" y="1280160"/>
            <a:ext cx="11277295" cy="548640"/>
          </a:xfrm>
          <a:prstGeom prst="rect">
            <a:avLst/>
          </a:prstGeom>
          <a:noFill/>
        </p:spPr>
        <p:txBody>
          <a:bodyPr wrap="square">
            <a:spAutoFit/>
          </a:bodyPr>
          <a:lstStyle/>
          <a:p>
            <a:pPr lvl="1">
              <a:defRPr sz="1400" b="0"/>
            </a:pPr>
            <a:r>
              <a:t>The warehouse safety audit conducted this quarter identified one active violation, shown in the notice below. Facilities management has been notified and corrective signage has been ordered.</a:t>
            </a:r>
          </a:p>
          <a:p>
            <a:pPr>
              <a:defRPr sz="1400" b="0"/>
            </a:pPr>
            <a:r>
              <a:t>Warehouse Safety Notice</a:t>
            </a:r>
          </a:p>
        </p:txBody>
      </p:sp>
      <p:pic>
        <p:nvPicPr>
          <p:cNvPr id="4" name="Picture 3" descr="p002_img00.png"/>
          <p:cNvPicPr>
            <a:picLocks noChangeAspect="1"/>
          </p:cNvPicPr>
          <p:nvPr/>
        </p:nvPicPr>
        <p:blipFill>
          <a:blip r:embed="rId2"/>
          <a:stretch>
            <a:fillRect/>
          </a:stretch>
        </p:blipFill>
        <p:spPr>
          <a:xfrm>
            <a:off x="457200" y="1965960"/>
            <a:ext cx="4114800" cy="2468879"/>
          </a:xfrm>
          <a:prstGeom prst="rect">
            <a:avLst/>
          </a:prstGeom>
        </p:spPr>
      </p:pic>
      <p:sp>
        <p:nvSpPr>
          <p:cNvPr id="5" name="TextBox 4"/>
          <p:cNvSpPr txBox="1"/>
          <p:nvPr/>
        </p:nvSpPr>
        <p:spPr>
          <a:xfrm>
            <a:off x="457200" y="4617719"/>
            <a:ext cx="11277295" cy="548640"/>
          </a:xfrm>
          <a:prstGeom prst="rect">
            <a:avLst/>
          </a:prstGeom>
          <a:noFill/>
        </p:spPr>
        <p:txBody>
          <a:bodyPr wrap="square">
            <a:spAutoFit/>
          </a:bodyPr>
          <a:lstStyle/>
          <a:p>
            <a:pPr lvl="1">
              <a:defRPr sz="1400" b="0"/>
            </a:pPr>
            <a:r>
              <a:t>Figure 1: Warehouse safety notice posted at Dock 3</a:t>
            </a:r>
          </a:p>
          <a:p>
            <a:pPr>
              <a:defRPr sz="1800" b="1"/>
            </a:pPr>
            <a:r>
              <a:t>Equipment Inspection Log</a:t>
            </a:r>
          </a:p>
        </p:txBody>
      </p:sp>
      <p:graphicFrame>
        <p:nvGraphicFramePr>
          <p:cNvPr id="6" name="Table 5"/>
          <p:cNvGraphicFramePr>
            <a:graphicFrameLocks noGrp="1"/>
          </p:cNvGraphicFramePr>
          <p:nvPr/>
        </p:nvGraphicFramePr>
        <p:xfrm>
          <a:off x="457200" y="5303519"/>
          <a:ext cx="11277295" cy="160020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pPr>
                        <a:defRPr sz="1100"/>
                      </a:pPr>
                      <a:r>
                        <a:t>Equipment ID</a:t>
                      </a:r>
                    </a:p>
                  </a:txBody>
                  <a:tcPr/>
                </a:tc>
                <a:tc>
                  <a:txBody>
                    <a:bodyPr/>
                    <a:lstStyle/>
                    <a:p>
                      <a:pPr>
                        <a:defRPr sz="1100"/>
                      </a:pPr>
                      <a:r>
                        <a:t>Last Inspected</a:t>
                      </a:r>
                    </a:p>
                  </a:txBody>
                  <a:tcPr/>
                </a:tc>
                <a:tc>
                  <a:txBody>
                    <a:bodyPr/>
                    <a:lstStyle/>
                    <a:p>
                      <a:pPr>
                        <a:defRPr sz="1100"/>
                      </a:pPr>
                      <a:r>
                        <a:t>Status</a:t>
                      </a:r>
                    </a:p>
                  </a:txBody>
                  <a:tcPr/>
                </a:tc>
                <a:tc>
                  <a:txBody>
                    <a:bodyPr/>
                    <a:lstStyle/>
                    <a:p>
                      <a:pPr>
                        <a:defRPr sz="1100"/>
                      </a:pPr>
                      <a:r>
                        <a:t>Next Due</a:t>
                      </a:r>
                    </a:p>
                  </a:txBody>
                  <a:tcPr/>
                </a:tc>
              </a:tr>
              <a:tr h="320040">
                <a:tc>
                  <a:txBody>
                    <a:bodyPr/>
                    <a:lstStyle/>
                    <a:p>
                      <a:pPr>
                        <a:defRPr sz="1100"/>
                      </a:pPr>
                      <a:r>
                        <a:t>FL-102</a:t>
                      </a:r>
                    </a:p>
                  </a:txBody>
                  <a:tcPr/>
                </a:tc>
                <a:tc>
                  <a:txBody>
                    <a:bodyPr/>
                    <a:lstStyle/>
                    <a:p>
                      <a:pPr>
                        <a:defRPr sz="1100"/>
                      </a:pPr>
                      <a:r>
                        <a:t>2026-07-12</a:t>
                      </a:r>
                    </a:p>
                  </a:txBody>
                  <a:tcPr/>
                </a:tc>
                <a:tc>
                  <a:txBody>
                    <a:bodyPr/>
                    <a:lstStyle/>
                    <a:p>
                      <a:pPr>
                        <a:defRPr sz="1100"/>
                      </a:pPr>
                      <a:r>
                        <a:t>Pass</a:t>
                      </a:r>
                    </a:p>
                  </a:txBody>
                  <a:tcPr/>
                </a:tc>
                <a:tc>
                  <a:txBody>
                    <a:bodyPr/>
                    <a:lstStyle/>
                    <a:p>
                      <a:pPr>
                        <a:defRPr sz="1100"/>
                      </a:pPr>
                      <a:r>
                        <a:t>2026-10-12</a:t>
                      </a:r>
                    </a:p>
                  </a:txBody>
                  <a:tcPr/>
                </a:tc>
              </a:tr>
              <a:tr h="320040">
                <a:tc>
                  <a:txBody>
                    <a:bodyPr/>
                    <a:lstStyle/>
                    <a:p>
                      <a:pPr>
                        <a:defRPr sz="1100"/>
                      </a:pPr>
                      <a:r>
                        <a:t>FL-103</a:t>
                      </a:r>
                    </a:p>
                  </a:txBody>
                  <a:tcPr/>
                </a:tc>
                <a:tc>
                  <a:txBody>
                    <a:bodyPr/>
                    <a:lstStyle/>
                    <a:p>
                      <a:pPr>
                        <a:defRPr sz="1100"/>
                      </a:pPr>
                      <a:r>
                        <a:t>2026-07-15</a:t>
                      </a:r>
                    </a:p>
                  </a:txBody>
                  <a:tcPr/>
                </a:tc>
                <a:tc>
                  <a:txBody>
                    <a:bodyPr/>
                    <a:lstStyle/>
                    <a:p>
                      <a:pPr>
                        <a:defRPr sz="1100"/>
                      </a:pPr>
                      <a:r>
                        <a:t>Pass</a:t>
                      </a:r>
                    </a:p>
                  </a:txBody>
                  <a:tcPr/>
                </a:tc>
                <a:tc>
                  <a:txBody>
                    <a:bodyPr/>
                    <a:lstStyle/>
                    <a:p>
                      <a:pPr>
                        <a:defRPr sz="1100"/>
                      </a:pPr>
                      <a:r>
                        <a:t>2026-10-15</a:t>
                      </a:r>
                    </a:p>
                  </a:txBody>
                  <a:tcPr/>
                </a:tc>
              </a:tr>
              <a:tr h="320040">
                <a:tc>
                  <a:txBody>
                    <a:bodyPr/>
                    <a:lstStyle/>
                    <a:p>
                      <a:pPr>
                        <a:defRPr sz="1100"/>
                      </a:pPr>
                      <a:r>
                        <a:t>FL-107</a:t>
                      </a:r>
                    </a:p>
                  </a:txBody>
                  <a:tcPr/>
                </a:tc>
                <a:tc>
                  <a:txBody>
                    <a:bodyPr/>
                    <a:lstStyle/>
                    <a:p>
                      <a:pPr>
                        <a:defRPr sz="1100"/>
                      </a:pPr>
                      <a:r>
                        <a:t>2026-07-18</a:t>
                      </a:r>
                    </a:p>
                  </a:txBody>
                  <a:tcPr/>
                </a:tc>
                <a:tc>
                  <a:txBody>
                    <a:bodyPr/>
                    <a:lstStyle/>
                    <a:p>
                      <a:pPr>
                        <a:defRPr sz="1100"/>
                      </a:pPr>
                      <a:r>
                        <a:t>Flagged</a:t>
                      </a:r>
                    </a:p>
                  </a:txBody>
                  <a:tcPr/>
                </a:tc>
                <a:tc>
                  <a:txBody>
                    <a:bodyPr/>
                    <a:lstStyle/>
                    <a:p>
                      <a:pPr>
                        <a:defRPr sz="1100"/>
                      </a:pPr>
                      <a:r>
                        <a:t>2026-08-01</a:t>
                      </a:r>
                    </a:p>
                  </a:txBody>
                  <a:tcPr/>
                </a:tc>
              </a:tr>
              <a:tr h="320040">
                <a:tc>
                  <a:txBody>
                    <a:bodyPr/>
                    <a:lstStyle/>
                    <a:p>
                      <a:pPr>
                        <a:defRPr sz="1100"/>
                      </a:pPr>
                      <a:r>
                        <a:t>DK-3-GATE</a:t>
                      </a:r>
                    </a:p>
                  </a:txBody>
                  <a:tcPr/>
                </a:tc>
                <a:tc>
                  <a:txBody>
                    <a:bodyPr/>
                    <a:lstStyle/>
                    <a:p>
                      <a:pPr>
                        <a:defRPr sz="1100"/>
                      </a:pPr>
                      <a:r>
                        <a:t>2026-08-02</a:t>
                      </a:r>
                    </a:p>
                  </a:txBody>
                  <a:tcPr/>
                </a:tc>
                <a:tc>
                  <a:txBody>
                    <a:bodyPr/>
                    <a:lstStyle/>
                    <a:p>
                      <a:pPr>
                        <a:defRPr sz="1100"/>
                      </a:pPr>
                      <a:r>
                        <a:t>Pass</a:t>
                      </a:r>
                    </a:p>
                  </a:txBody>
                  <a:tcPr/>
                </a:tc>
                <a:tc>
                  <a:txBody>
                    <a:bodyPr/>
                    <a:lstStyle/>
                    <a:p>
                      <a:pPr>
                        <a:defRPr sz="1100"/>
                      </a:pPr>
                      <a:r>
                        <a:t>2026-11-02</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